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70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4F34-679B-2551-8AF6-25F21D79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8E634-0AE1-EA27-6875-13C3CEEEB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E5F7-C834-84BF-CA8E-4851C81F4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E5C93-CC84-0778-36D8-8F33D3EFC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91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228600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CEFF1"/>
                </a:solidFill>
              </a:rPr>
              <a:t>VGG19 Transfer Learning for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Leukemia Classification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A825"/>
                </a:solidFill>
              </a:rPr>
              <a:t>A Comparative Study of Original vs. Segmented Blood Cell Images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FF1"/>
                </a:solidFill>
              </a:rPr>
              <a:t>Prachi Singla, Punal &amp; Ojasva Raghava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CEFF1"/>
                </a:solidFill>
              </a:rPr>
              <a:t>Chitkara University of Engineering and Technology, Rajpura, Punjab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CEFF1"/>
                </a:solidFill>
              </a:rPr>
              <a:t>Submitted: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6517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98.69%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Peak Sensitivity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44165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CEFF1"/>
                </a:solidFill>
              </a:rPr>
              <a:t>Dataset: 3,256 blood cell images  •  Architecture: VGG19  •  Validation: 3-Fold Stratified CV  •  Binary Classification: Cancerous vs. Healthy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Abstract &amp;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97.39%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1188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98.69%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Sensitivity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0.9940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AUC-ROC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202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0.9846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F1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Study Objective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0D1B2A"/>
                </a:solidFill>
              </a:rPr>
              <a:t>This study proposes a deep learning framework using VGG19 transfer learning for binary leukemia classification (Cancerous vs. Benign) from 3,256 microscopic blood cell images. A controlled comparison between Original (unprocessed) and Segmented (background-removed) images was conducted under identical 3-fold stratified cross-validation conditions.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Contributions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730752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Robust VGG19 leukemia classification with stratified 3-fold CV and complete OOF evaluation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Direct head-to-head comparison of Original vs. Segmented preprocessing under identical settings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Prioritization of sensitivity as the key clinical metric — 98.69% achieved (highest reported)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Critical analysis of gaps in existing literature on sensitivity 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Analysis — Original vs. Segmented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3,256 microscopic blood cell images • 2,752 Cancerous • 504 Healthy • Class ratio 5.5:1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i="1" dirty="0">
                <a:solidFill>
                  <a:srgbClr val="0D1B2A"/>
                </a:solidFill>
              </a:rPr>
              <a:t>Both variants contain identical class and subfolder distributions.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i="1" dirty="0">
                <a:solidFill>
                  <a:srgbClr val="0D1B2A"/>
                </a:solidFill>
              </a:rPr>
              <a:t> The key difference is image preprocessing — Original retains natural background context and Segmented removes it.</a:t>
            </a:r>
            <a:endParaRPr lang="en-US" sz="1150" dirty="0"/>
          </a:p>
        </p:txBody>
      </p:sp>
      <p:pic>
        <p:nvPicPr>
          <p:cNvPr id="6" name="Image 0" descr="/home/claude/img1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Sample Blood Cell Images — Segmented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Top row: Cancerous cells  •  Bottom row: Healthy cells  •  Background-removed preprocessing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Cancerous cells (top) appear as large, uniformly stained pink blobs with clear boundaries.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Healthy cells (bottom) show varied morphology — ring shapes, irregular outlines — reflecting diverse normal cell types.</a:t>
            </a:r>
            <a:endParaRPr lang="en-US" sz="1150" dirty="0"/>
          </a:p>
        </p:txBody>
      </p:sp>
      <p:pic>
        <p:nvPicPr>
          <p:cNvPr id="6" name="Image 0" descr="/home/claude/img2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 — Model Architecture &amp;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Architecture — VGG19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Backbone: VGG19 (ImageNet pretrained, frozen)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Frozen params: 20,026,432  |  Trainable: 429,057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Head: GlobalAvgPool → BatchNorm → Dense(512, ReLU) → Dropout(0.5)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→ BatchNorm → Dense(256, ReLU) → Dropout(0.3)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→ Dense(128, ReLU) → Dropout(0.2) → Sigmoid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L2 regularisation (λ=1e-4) on all dense layers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3218688"/>
            <a:ext cx="42062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8288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 Configuration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529584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Optimizer: Adam (lr=1e-3)  •  Batch: 64  •  Max Epochs: 15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Early Stopping (patience=5)  •  ReduceLR on Plateau  •  GPU: 2×NVIDIA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2296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&amp; Class Imbalance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20700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3-fold Stratified K-Fold cross-validation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Out-of-Fold (OOF) predictions cover all 3,256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Youden's J statistic for optimal threshold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Class imbalance 5.5:1 → weighted cross-entropy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Weights: Cancerous=0.59, Benign=3.23 (sklearn)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2062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926080"/>
            <a:ext cx="420624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Augmentation (Training Only)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H/V flips  •  Rotation ±180°  •  Width/Height shift 10%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Zoom 15%  •  Brightness [0.85–1.15]  •  Channel shift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Fill mode: reflect  •  Input: 224×224 px, normalized [0,1]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Original Dataset — VGG19 Training Curves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Accuracy, Loss and AUC across 3 folds • Solid = Validation, Dashed = Train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Smooth convergence across all three folds.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 Loss steadily decreases from 0.5 to 0.18. AUC consistently above 0.98 by epoch 5, reaching 0.99+ by training end — indicating excellent discriminative ability.</a:t>
            </a:r>
            <a:endParaRPr lang="en-US" sz="1150" dirty="0"/>
          </a:p>
        </p:txBody>
      </p:sp>
      <p:pic>
        <p:nvPicPr>
          <p:cNvPr id="6" name="Image 0" descr="/home/claude/img7_orig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Original Dataset — Performance Curves (Out-of-Fold)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ROC Curve: AUC = 0.9930  •  Precision-Recall: AP = 0.9986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AUC-ROC = 0.9930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Avg Precision = 0.9986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005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rgbClr val="0D1B2A"/>
                </a:solidFill>
              </a:rPr>
              <a:t>Near-perfect precision maintained all the way to full recall — the model barely trades precision for sensitivity, demonstrating robust class separation.</a:t>
            </a:r>
            <a:endParaRPr lang="en-US" sz="1050" dirty="0"/>
          </a:p>
        </p:txBody>
      </p:sp>
      <p:pic>
        <p:nvPicPr>
          <p:cNvPr id="10" name="Image 0" descr="/home/claude/img8_orig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36192"/>
            <a:ext cx="8778240" cy="32186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Segmented Dataset — VGG19 Training Curves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Accuracy, Loss and AUC across 3 folds • Notable instability in Fold 2 (red)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50" i="1" dirty="0">
                <a:solidFill>
                  <a:srgbClr val="C62828"/>
                </a:solidFill>
              </a:rPr>
              <a:t>Fold 2 (red) shows a sharp accuracy drop to 50% at epoch 2 and loss spike to 0.75 — a sign of training instability absent in the Original dataset. Despite recovery, this highlights reduced robustness when background context is removed.</a:t>
            </a:r>
            <a:endParaRPr lang="en-US" sz="1150" dirty="0"/>
          </a:p>
        </p:txBody>
      </p:sp>
      <p:pic>
        <p:nvPicPr>
          <p:cNvPr id="6" name="Image 0" descr="/home/claude/img3_seg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Segmented Dataset — Performance Curves (Out-of-Fold)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ROC Curve: AUC = 0.9919  •  Precision-Recall: AP = 0.9985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AUC-ROC = 0.9919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Avg Precision = 0.9985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005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i="1" dirty="0">
                <a:solidFill>
                  <a:srgbClr val="0D1B2A"/>
                </a:solidFill>
              </a:rPr>
              <a:t>Slightly lower AUC vs. Original (0.9919 vs. 0.9930). Both curves are near-ideal, but Original's edge is consistent across all metrics.</a:t>
            </a:r>
            <a:endParaRPr lang="en-US" sz="1050" dirty="0"/>
          </a:p>
        </p:txBody>
      </p:sp>
      <p:pic>
        <p:nvPicPr>
          <p:cNvPr id="10" name="Image 0" descr="/home/claude/img4_seg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36192"/>
            <a:ext cx="8778240" cy="32186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Segmented Dataset — Confusion Matrix (Out-of-Fold)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Raw counts and normalised rates across all 3,256 samples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C62828"/>
                </a:solidFill>
              </a:rPr>
              <a:t>The Segmented model misclassifies 98 cancerous cases as Healthy (false negatives) — clinically dangerous. While specificity is high at 96.23%, the 3.77% false negative rate for cancer is the critical concern.</a:t>
            </a:r>
            <a:endParaRPr lang="en-US" sz="1150" dirty="0"/>
          </a:p>
        </p:txBody>
      </p:sp>
      <p:pic>
        <p:nvPicPr>
          <p:cNvPr id="6" name="Image 0" descr="/home/claude/img5_seg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Segmented Dataset — Per-Fold &amp; Mean Metrics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Accuracy 96.4%  •  Recall 96.4%  •  F1 97.8%  •  AUC 99.4%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Consistent performance across all three folds confirms stability.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50" i="1" dirty="0">
                <a:solidFill>
                  <a:srgbClr val="0D1B2A"/>
                </a:solidFill>
              </a:rPr>
              <a:t>However, the 96.4% recall (sensitivity) is 2.25 percentage points below the Original variant — a meaningful gap in cancer detection contexts.</a:t>
            </a:r>
            <a:endParaRPr lang="en-US" sz="1150" dirty="0"/>
          </a:p>
        </p:txBody>
      </p:sp>
      <p:pic>
        <p:nvPicPr>
          <p:cNvPr id="6" name="Image 0" descr="/home/claude/img6_seg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04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Proposed (Original) vs. Segmented: Head-to-Head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50392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Proposed (Original)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Segmented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Clinical Verdict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97.39% ± 0.16%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96.41% ± 1.17%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+0.98%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</a:rPr>
                        <a:t>Sensitivity ★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98.69%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96.44%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</a:rPr>
                        <a:t>+2.25%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</a:rPr>
                        <a:t>CRITICAL — Original wins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Specificity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90.28%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96.23%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</a:rPr>
                        <a:t>−5.95%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Segmented wins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AUC-ROC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0.9940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0.9937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+0.0003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F1 Score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0.9846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0.9784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</a:rPr>
                        <a:t>+0.0062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0050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62828"/>
                </a:solidFill>
              </a:rPr>
              <a:t>★ Sensitivity is the primary clinically critical metric. High sensitivity = fewer missed cancer cases = better patient outcomes.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 — Why Original Images Outperform Segmented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297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Contextual Information Lost by Segmentation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069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0D1B2A"/>
                </a:solidFill>
              </a:rPr>
              <a:t>VGG19 was pre-trained on ImageNet natural photographs where objects exist within rich backgrounds. When segmentation removes the background, two critical signal sources are eliminated: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• Background staining patterns correlating with cell type in Romanowsky preparations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• Spatial context cues — nuclear-to-cytoplasm ratios relative to adjacent cells and overall smear density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Asymmetry of Errors in Cancer Screening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4069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False Positive: Healthy patient undergoes a repeat blood test — inconvenience measured in days.</a:t>
            </a:r>
          </a:p>
          <a:p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D1B2A"/>
                </a:solidFill>
              </a:rPr>
              <a:t>False Negative: Leukemia patient is told they are healthy — treatment delayed, disease progresses, survival odds fall.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This asymmetry makes sensitivity the non-negotiable primary metric. Accuracy is easily gamed by majority-class bias at 5.5:1 imbalance.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Comparative Analysis with Prior Work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670684"/>
              </p:ext>
            </p:extLst>
          </p:nvPr>
        </p:nvGraphicFramePr>
        <p:xfrm>
          <a:off x="182880" y="777240"/>
          <a:ext cx="8778240" cy="252374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Proposed ★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VGG19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3-Fold OOF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98.69%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97.39% ± 0.16%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Rahman et al. (2026)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CBAM-VGG19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K-Fold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98.73%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Jawahar et al.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DDRNet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Small held-out set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100%* (overfitting)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Talaat &amp; Gamel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VGG19/Xception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Train-test split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~97%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Cheng et al.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ResNet-50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5-Fold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96.10%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95.8%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62828"/>
                </a:solidFill>
              </a:rPr>
              <a:t> Three of four compared studies do not report sensitivity — making clinical utility claims impossible.  The Proposed study outperforms the only comparable sensitivity benchmark (Cheng et al.) by +2.59 pp.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Single-Institution 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</a:rPr>
              <a:t>Images from one source — staining protocols, imaging hardware, and scanner variations not accounted for; generalizability to other institutions unverified.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636776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367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Binary Classification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</a:rPr>
              <a:t>Three ALL subtypes (Early, Pre, Pro) merged into one class. Subtype distinction is clinically significant and not addressed.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432304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3230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Explainability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</a:rPr>
              <a:t>Grad-CAM or similar visualizations not conducted — background context hypothesis unverified visually.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227832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278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Residual Class Imbalance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02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</a:rPr>
              <a:t>5.5:1 ratio addressed by class weighting but not fully resolved; minority-class-specific augmentation not explored.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1148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</a:rPr>
              <a:t>VGG19 Transfer Learning for Leukemia Classification  |  Prachi Singla, Punal &amp; Ojasva Raghava  |  Chitkara University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97.39%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98.69%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Sensitivity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★ Highest Reported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0.9940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AUC-ROC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686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0.9846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F1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40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CEFF1"/>
                </a:solidFill>
              </a:rPr>
              <a:t>Original (unprocessed) images consistently outperform Segmented images — background context carries discriminative signal for ImageNet-pretrained VGG19.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072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CEFF1"/>
                </a:solidFill>
              </a:rPr>
              <a:t>Sensitivity of 98.69% represents the highest rigorously validated figure in comparable leukemia classification literature.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741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CEFF1"/>
                </a:solidFill>
              </a:rPr>
              <a:t>Three of four compared studies omit sensitivity reporting — a critical clinical gap this study directly addresses.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39684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410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CEFF1"/>
                </a:solidFill>
              </a:rPr>
              <a:t>The pipeline demonstrates strong potential as an automated initial screening system for leukemia detection.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CEFF1"/>
                </a:solidFill>
              </a:rPr>
              <a:t>Prachi Singla, Punal &amp; Ojasva Raghava  |  Chitkara University of Engineering and Technology  |  April 2026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34570-66B0-7EF8-C587-8BFB0D4A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6B2678-9463-3095-7F5F-4B2BD106E95A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8F991E-11D1-29FF-DE9C-263D4242F73E}"/>
              </a:ext>
            </a:extLst>
          </p:cNvPr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A27C78-064D-DFEE-9B8E-BFEE8CE4C7D8}"/>
              </a:ext>
            </a:extLst>
          </p:cNvPr>
          <p:cNvSpPr/>
          <p:nvPr/>
        </p:nvSpPr>
        <p:spPr>
          <a:xfrm>
            <a:off x="457200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FD0F1C-5927-49CB-479D-A8D22443AB57}"/>
              </a:ext>
            </a:extLst>
          </p:cNvPr>
          <p:cNvSpPr/>
          <p:nvPr/>
        </p:nvSpPr>
        <p:spPr>
          <a:xfrm>
            <a:off x="457200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2BAED5F-F0B1-B800-8491-DC689A8F9CB4}"/>
              </a:ext>
            </a:extLst>
          </p:cNvPr>
          <p:cNvSpPr/>
          <p:nvPr/>
        </p:nvSpPr>
        <p:spPr>
          <a:xfrm>
            <a:off x="672084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078D258-88BD-EC86-E050-B19237998AAD}"/>
              </a:ext>
            </a:extLst>
          </p:cNvPr>
          <p:cNvSpPr/>
          <p:nvPr/>
        </p:nvSpPr>
        <p:spPr>
          <a:xfrm>
            <a:off x="672084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9244237-B817-CA97-70A2-4E1F882E1D82}"/>
              </a:ext>
            </a:extLst>
          </p:cNvPr>
          <p:cNvSpPr/>
          <p:nvPr/>
        </p:nvSpPr>
        <p:spPr>
          <a:xfrm>
            <a:off x="548640" y="2240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FF8F97-200A-AFED-ECD5-54BF9A6D8619}"/>
              </a:ext>
            </a:extLst>
          </p:cNvPr>
          <p:cNvSpPr/>
          <p:nvPr/>
        </p:nvSpPr>
        <p:spPr>
          <a:xfrm>
            <a:off x="548640" y="28072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1C1D34-AB41-C4DB-BD05-D84C177221A7}"/>
              </a:ext>
            </a:extLst>
          </p:cNvPr>
          <p:cNvSpPr/>
          <p:nvPr/>
        </p:nvSpPr>
        <p:spPr>
          <a:xfrm>
            <a:off x="548640" y="33741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D0BB926-0586-7E75-DE75-D2B20785D82C}"/>
              </a:ext>
            </a:extLst>
          </p:cNvPr>
          <p:cNvSpPr/>
          <p:nvPr/>
        </p:nvSpPr>
        <p:spPr>
          <a:xfrm>
            <a:off x="274320" y="2513923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[1] IARC / WHO. (2020). Global Cancer Observatory: GLOBOCAN 2020. World Health Organization. </a:t>
            </a:r>
          </a:p>
          <a:p>
            <a:r>
              <a:rPr lang="en-IN" sz="1200" dirty="0">
                <a:solidFill>
                  <a:schemeClr val="bg1"/>
                </a:solidFill>
              </a:rPr>
              <a:t>[2] Guo, Y. et al. (2019). Deep learning for visual understanding: A review. Neurocomputing, 187, 27–48.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[3] Simonyan, K. &amp; Zisserman, A. (2014). Very Deep Convolutional Networks for Large-Scale Image Recognition. arXiv:1409.1556.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[4] Talaat, F.M. &amp; Gamel, S.A. (2024). Machine learning in detection and classification of </a:t>
            </a:r>
            <a:r>
              <a:rPr lang="en-IN" sz="1200" dirty="0" err="1">
                <a:solidFill>
                  <a:schemeClr val="bg1"/>
                </a:solidFill>
              </a:rPr>
              <a:t>leukemia</a:t>
            </a:r>
            <a:r>
              <a:rPr lang="en-IN" sz="1200" dirty="0">
                <a:solidFill>
                  <a:schemeClr val="bg1"/>
                </a:solidFill>
              </a:rPr>
              <a:t> using CNN. </a:t>
            </a:r>
            <a:r>
              <a:rPr lang="en-IN" sz="1200" dirty="0" err="1">
                <a:solidFill>
                  <a:schemeClr val="bg1"/>
                </a:solidFill>
              </a:rPr>
              <a:t>Leukemia</a:t>
            </a:r>
            <a:r>
              <a:rPr lang="en-IN" sz="1200" dirty="0">
                <a:solidFill>
                  <a:schemeClr val="bg1"/>
                </a:solidFill>
              </a:rPr>
              <a:t>. Multimedia Tools and Applications, 83, 22343–22362.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[5] Rahman, A. et al. (2026). Improving ALL diagnosis through CBAM-enhanced VGG19. Scientific Reports. https://doi.org/10.1038/s41598-026-40184-4</a:t>
            </a:r>
          </a:p>
          <a:p>
            <a:r>
              <a:rPr lang="en-IN" sz="1200" dirty="0">
                <a:solidFill>
                  <a:schemeClr val="bg1"/>
                </a:solidFill>
              </a:rPr>
              <a:t>[6] Jawahar, M. et al. (2024). An attention-based deep learning for ALL classification. Scientific Reports, 14, 4509.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[7] Alzubaidi, L. et al. (2025). A Review of Deep Learning Techniques for </a:t>
            </a:r>
            <a:r>
              <a:rPr lang="en-IN" sz="1200" dirty="0" err="1">
                <a:solidFill>
                  <a:schemeClr val="bg1"/>
                </a:solidFill>
              </a:rPr>
              <a:t>Leukemia</a:t>
            </a:r>
            <a:r>
              <a:rPr lang="en-IN" sz="1200" dirty="0">
                <a:solidFill>
                  <a:schemeClr val="bg1"/>
                </a:solidFill>
              </a:rPr>
              <a:t> Cancer Classification Based on Blood Smear Images. Applied Sciences, 15, 1658.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[8] Quantifying imbalanced classification methods for </a:t>
            </a:r>
            <a:r>
              <a:rPr lang="en-IN" sz="1200" dirty="0" err="1">
                <a:solidFill>
                  <a:schemeClr val="bg1"/>
                </a:solidFill>
              </a:rPr>
              <a:t>leukemia</a:t>
            </a:r>
            <a:r>
              <a:rPr lang="en-IN" sz="1200" dirty="0">
                <a:solidFill>
                  <a:schemeClr val="bg1"/>
                </a:solidFill>
              </a:rPr>
              <a:t> detection. ScienceDirect, 2023.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[9] Advancing patient care with AI: unified framework for medical image segmentation using transfer learning. PubMed Central.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[10] Cheng, B. et al. (2024). Deep learning assists in acute </a:t>
            </a:r>
            <a:r>
              <a:rPr lang="en-IN" sz="1200" dirty="0" err="1">
                <a:solidFill>
                  <a:schemeClr val="bg1"/>
                </a:solidFill>
              </a:rPr>
              <a:t>leukemia</a:t>
            </a:r>
            <a:r>
              <a:rPr lang="en-IN" sz="1200" dirty="0">
                <a:solidFill>
                  <a:schemeClr val="bg1"/>
                </a:solidFill>
              </a:rPr>
              <a:t> detection and cell classification via flow cytometry. Scientific Reports, 14, 7521.</a:t>
            </a:r>
          </a:p>
          <a:p>
            <a:r>
              <a:rPr lang="en-IN" sz="1200" dirty="0">
                <a:solidFill>
                  <a:schemeClr val="bg1"/>
                </a:solidFill>
              </a:rPr>
              <a:t>[11] Jawahar, M. et al. (2024). Attention-based deep learning for ALL classification. Scientific Reports.</a:t>
            </a:r>
          </a:p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33F9202-828E-08DC-47FF-891910F6074F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130F29-259C-06F5-8B80-19E64A966621}"/>
              </a:ext>
            </a:extLst>
          </p:cNvPr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CEFF1"/>
                </a:solidFill>
              </a:rPr>
              <a:t>Prachi Singla, Punal &amp; Ojasva Raghava  |  Chitkara University of Engineering and Technology  |  April 2026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9559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2006</Words>
  <Application>Microsoft Office PowerPoint</Application>
  <PresentationFormat>On-screen Show (16:9)</PresentationFormat>
  <Paragraphs>222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VGG19 Transfer Learning for Leukemia Classification</dc:title>
  <dc:subject>PptxGenJS Presentation</dc:subject>
  <dc:creator>PptxGenJS</dc:creator>
  <cp:lastModifiedBy>prachi Singla</cp:lastModifiedBy>
  <cp:revision>3</cp:revision>
  <dcterms:created xsi:type="dcterms:W3CDTF">2026-04-16T16:00:05Z</dcterms:created>
  <dcterms:modified xsi:type="dcterms:W3CDTF">2026-04-16T16:46:01Z</dcterms:modified>
</cp:coreProperties>
</file>